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5029200" cy="5029200"/>
          </a:xfrm>
          <a:prstGeom prst="ellipse">
            <a:avLst/>
          </a:prstGeom>
          <a:solidFill>
            <a:srgbClr val="2C2C2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0A84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320040"/>
            <a:ext cx="1554480" cy="1554480"/>
          </a:xfrm>
          <a:prstGeom prst="roundRect">
            <a:avLst>
              <a:gd name="adj" fmla="val 24706"/>
            </a:avLst>
          </a:prstGeom>
          <a:solidFill>
            <a:srgbClr val="0A84FF"/>
          </a:solidFill>
          <a:ln/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46920" y="320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46920" y="320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🍎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WIDGET DEEP DIVE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CupertinoApp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beautiful, native-feeling iOS apps with Flutter's Cupertino design language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17720"/>
            <a:ext cx="12755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Widget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16836" y="4617720"/>
            <a:ext cx="1970532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16836" y="4617720"/>
            <a:ext cx="1970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Design Language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88536" y="461772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461772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CupertinoThemeData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73368" y="4617720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461772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Interface Guidelines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Deck for Flutter Developers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CupertinoApp?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iOS counterpart to Flutter's MaterialApp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2F2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convenience widget that wraps a number of widgets commonly required for applications implementing Apple's iOS Human Interface Guidelines.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272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root widget of an app — similar to MaterialApp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767328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118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navigation, theming, and localization for the whole app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251960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9651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widgets that mimic native iOS look, feel, and motion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736592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8114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package:flutter/cupertino.dart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221224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06577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— not exclusive to — Material widgets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181051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181051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181051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14884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'package:flutter/cupertino.dart';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=&gt; runApp(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CupertinoApp(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'My iOS App',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theme: CupertinoThemeData(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primaryColor: CupertinoColors.systemBlue,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home: HomeScreen(),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CupertinoApp vs. MaterialApp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languages, one Flutter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A84FF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6002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5856D6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109960" cy="530352"/>
          </a:xfrm>
          <a:prstGeom prst="rect">
            <a:avLst/>
          </a:prstGeom>
          <a:solidFill>
            <a:srgbClr val="F2F2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1284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53128" y="221284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Human Interface Guidelines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47888" y="221284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Material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7432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53128" y="27432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CupertinoThemeData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27432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1109960" cy="530352"/>
          </a:xfrm>
          <a:prstGeom prst="rect">
            <a:avLst/>
          </a:prstGeom>
          <a:solidFill>
            <a:srgbClr val="F2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735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scaffold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53128" y="32735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CupertinoPageScaffold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7888" y="327355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8039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53128" y="38039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CupertinoNavigationBar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47888" y="380390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11109960" cy="530352"/>
          </a:xfrm>
          <a:prstGeom prst="rect">
            <a:avLst/>
          </a:prstGeom>
          <a:solidFill>
            <a:srgbClr val="F2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3342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transition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53128" y="43342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Slide-from-right (iOS)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7888" y="433425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Fade-through / Material motion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48646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widget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48646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CupertinoTabScaffold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888" y="486460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BottomNavigationBar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11109960" cy="530352"/>
          </a:xfrm>
          <a:prstGeom prst="rect">
            <a:avLst/>
          </a:prstGeom>
          <a:solidFill>
            <a:srgbClr val="F2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3949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53128" y="53949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iOS-only or platform-adaptive apps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888" y="53949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 / cross-platform apps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CupertinoApp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constructor parameters to know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6733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0116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widget/screen shown when the app launches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1764792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6733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01968" y="20116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CupertinoThemeData controlling colors, brightness &amp; fonts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889504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279806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313639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title used by the OS (task switcher, etc.)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724912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2889504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279806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/ initialRoute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01968" y="313639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Named-route table and the route shown first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014216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9227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onGenerateRoute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426110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routes dynamically (e.g. with arguments)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9624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4014216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39227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navigatorKey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01968" y="426110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GlobalKey to control navigation from outside widgets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74336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138928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504748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localizationsDelegates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2688" y="53858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localized Cupertino strings &amp; formats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974336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5138928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504748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supportedLocales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01968" y="53858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locales the app supports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09904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6263640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" y="6172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32688" y="651052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app — great for global overlays or theming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609904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2F2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382512" y="6263640"/>
            <a:ext cx="91440" cy="6309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42" name="Text 40"/>
          <p:cNvSpPr/>
          <p:nvPr/>
        </p:nvSpPr>
        <p:spPr>
          <a:xfrm>
            <a:off x="6601968" y="6172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debugShowCheckedModeBanner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601968" y="651052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the debug banner (bool)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Customizing with CupertinoThemeData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visual identity of your iOS-style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brightness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69164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Brightness.light or Brightness.dark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primaryColor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246888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accent color (buttons, active elements)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461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primaryContrastingColor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324612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that contrasts with primaryColor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barBackgroundColor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63240" y="402336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for nav bars &amp; tab bars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scaffoldBackgroundColor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63240" y="48006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behind CupertinoPageScaffold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778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textTheme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557784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CupertinoTextThemeData for fonts across the app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69480" y="1691640"/>
            <a:ext cx="4343400" cy="4663440"/>
          </a:xfrm>
          <a:prstGeom prst="roundRect">
            <a:avLst>
              <a:gd name="adj" fmla="val 5895"/>
            </a:avLst>
          </a:prstGeom>
          <a:solidFill>
            <a:srgbClr val="0B0B0C"/>
          </a:solidFill>
          <a:ln w="25400">
            <a:solidFill>
              <a:srgbClr val="3A3A3C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196596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2C2C2E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9659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Settings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52360" y="278892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2C2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2926080"/>
            <a:ext cx="274320" cy="27432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52360" y="344728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2C2C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0" y="3584448"/>
            <a:ext cx="274320" cy="27432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34472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410565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2C2C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589520" y="4242816"/>
            <a:ext cx="274320" cy="27432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41056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52360" y="476402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2C2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4901184"/>
            <a:ext cx="274320" cy="27432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47640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52360" y="55321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</p:sp>
      <p:sp>
        <p:nvSpPr>
          <p:cNvPr id="38" name="Text 36"/>
          <p:cNvSpPr/>
          <p:nvPr/>
        </p:nvSpPr>
        <p:spPr>
          <a:xfrm>
            <a:off x="7452360" y="55321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Structuring a Screen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CupertinoPageScaffold + CupertinoNavigationBar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CupertinoPageScaffold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standard layout structure for a single iOS-style screen — the Cupertino equivalent of Scaffold.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34056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navigationBar  </a:t>
            </a:r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CupertinoNavigationBar pinned to the top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00984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272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 </a:t>
            </a:r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scrollable/interactive content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67912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941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  </a:t>
            </a:r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the scaffold's background color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46304" cy="146304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611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resizeToAvoidBottomInset  </a:t>
            </a:r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layout when keyboard appears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834640" cy="507492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381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0" y="155448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2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709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Inbox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2514600"/>
            <a:ext cx="256032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2898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text goes here…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78040" y="3291840"/>
            <a:ext cx="256032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3675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text goes here…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78040" y="4069080"/>
            <a:ext cx="256032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4453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text goes here…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78040" y="4846320"/>
            <a:ext cx="256032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5230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text goes here…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1268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navigationBar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5520" y="1874520"/>
            <a:ext cx="128016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001268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75520" y="3429000"/>
            <a:ext cx="1280160" cy="0"/>
          </a:xfrm>
          <a:prstGeom prst="line">
            <a:avLst/>
          </a:prstGeom>
          <a:noFill/>
          <a:ln w="19050">
            <a:solidFill>
              <a:srgbClr val="8E8E93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Multi-Tab Apps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CupertinoTabScaffold + CupertinoTabBar + CupertinoTabView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iOS apps use bottom tabs.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CupertinoTabScaffold manages a persistent tab bar while each tab keeps its own navigation stack.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2F2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CupertinoTabBar with icons &amp; labels for each tab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2F2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tabBuilder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content (often a CupertinoTabView) per tab index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2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CupertinoTabView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4160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tab its own independent Navigator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5760720" cy="640080"/>
          </a:xfrm>
          <a:prstGeom prst="roundRect">
            <a:avLst>
              <a:gd name="adj" fmla="val 11429"/>
            </a:avLst>
          </a:prstGeom>
          <a:solidFill>
            <a:srgbClr val="F2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CupertinoTabController to control tab index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1417320"/>
            <a:ext cx="2834640" cy="507492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381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Home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23760" y="242316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2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Area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5715000"/>
            <a:ext cx="28346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760720"/>
            <a:ext cx="70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6108192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49540" y="5760720"/>
            <a:ext cx="70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49540" y="6108192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760720"/>
            <a:ext cx="70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6108192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66860" y="5760720"/>
            <a:ext cx="70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66860" y="6108192"/>
            <a:ext cx="708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Navigation with CupertinoPageRoute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slide transitions, out of the box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 new screen automatically slides in from the right with the signature iOS motion — no custom transition code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760720" cy="3977640"/>
          </a:xfrm>
          <a:prstGeom prst="roundRect">
            <a:avLst>
              <a:gd name="adj" fmla="val 2759"/>
            </a:avLst>
          </a:prstGeom>
          <a:solidFill>
            <a:srgbClr val="2C2C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Navigator.push(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context,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CupertinoPageRoute(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builder: (context) =&gt; DetailPage(),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Named routes work too: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Navigator.pushNamed(context, '/details');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2651760"/>
            <a:ext cx="1737360" cy="2743200"/>
          </a:xfrm>
          <a:prstGeom prst="roundRect">
            <a:avLst>
              <a:gd name="adj" fmla="val 7895"/>
            </a:avLst>
          </a:prstGeom>
          <a:solidFill>
            <a:srgbClr val="3A3A3C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2377440"/>
            <a:ext cx="1737360" cy="2743200"/>
          </a:xfrm>
          <a:prstGeom prst="roundRect">
            <a:avLst>
              <a:gd name="adj" fmla="val 7895"/>
            </a:avLst>
          </a:prstGeom>
          <a:solidFill>
            <a:srgbClr val="0A84FF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006840" y="237744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0" y="2194560"/>
            <a:ext cx="608076" cy="2743200"/>
          </a:xfrm>
          <a:prstGeom prst="roundRect">
            <a:avLst>
              <a:gd name="adj" fmla="val 22556"/>
            </a:avLst>
          </a:prstGeom>
          <a:solidFill>
            <a:srgbClr val="3A3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left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Cupertino Widget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iOS-style widgets used inside a CupertinoApp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CupertinoButton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Tappable button with iOS press-fade effect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8562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CupertinoSwitch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240487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iOS-style on/off toggle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18562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CupertinoTextField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240487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styled like iOS forms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474720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4381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CupertinoAlertDialog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986784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Native-looking alert/confirmation dialog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27355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474720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4381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CupertinoActionSheet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98848" y="3986784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action sheet with options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273552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3474720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343814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CupertinoPicker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7888" y="3986784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wheel picker (dates, values)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55464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056632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502005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CupertinoSlider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5568696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iOS-style slider control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4855464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98848" y="5056632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41" name="Text 39"/>
          <p:cNvSpPr/>
          <p:nvPr/>
        </p:nvSpPr>
        <p:spPr>
          <a:xfrm>
            <a:off x="4498848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74920" y="502005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CupertinoActivityIndicator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98848" y="5568696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spinning iOS loading indicator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4855464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47888" y="5056632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46" name="Text 44"/>
          <p:cNvSpPr/>
          <p:nvPr/>
        </p:nvSpPr>
        <p:spPr>
          <a:xfrm>
            <a:off x="8247888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823960" y="502005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CupertinoSegmentedControl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47888" y="5568696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tab-like selector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Platform-Adaptive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choose Cupertino OR Material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lets you mix both design systems 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your app can feel native on every platform. Common patterns: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Platform.isIOS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branch UI code between Cupertino &amp; Material widgets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0A84F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468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Adaptive widgets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30175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like Switch.adaptive() auto-render the right style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1C1C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634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CupertinoApp inside MaterialApp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a CupertinoTheme for isolated iOS-styled sections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4348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0A8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6634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Dedicated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52120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fully to Cupertino for an iOS-exclusive app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Best Practices &amp; When to 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working with CupertinoApp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032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D15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CupertinoApp when targeting iOS-only or Apple-first products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Pair it with CupertinoThemeData for consistent branding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CupertinoIcons for visually matching iconography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 on real iOS devices/simulators — motion &amp; fonts matter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3A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9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DON'T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 mix random Material widgets inside a pure Cupertino flow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 forget localizationsDelegates for multi-language apps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114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 hardcode colors — use CupertinoTheme.of(context)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983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 skip accessibility (dynamic text sizes, VoiceOver labels)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C2C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CupertinoApp, at a glance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Root Widget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bootstraps an iOS-styled Flutter app, just like MaterialApp does for Material Design.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CupertinoThemeData centralizes colors, brightness, and typography for a consistent identity.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1896" y="1892808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1896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11896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CupertinoPageScaffold, CupertinoNavigationBar &amp; CupertinoTabScaffold build native-feeling screens.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8444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78561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361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CupertinoPageRoute gives you the iOS slide transition automatically.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15968" y="358444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44568" y="378561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44568" y="4361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Rich Widgets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44568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switches, pickers, dialogs &amp; more — a full native-style component library.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83296" y="3584448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2C2C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1896" y="378561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11896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11896" y="4361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Adaptive-Friendly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11896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Material widgets for apps that feel native across platforms.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learning about CupertinoApp! 🍎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CupertinoApp • Flutter iOS-style UI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2026-07-22T11:50:30Z</dcterms:created>
  <dcterms:modified xsi:type="dcterms:W3CDTF">2026-07-22T11:50:30Z</dcterms:modified>
</cp:coreProperties>
</file>